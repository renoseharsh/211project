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2000"/>
  <p:notesSz cx="6858000" cy="9144000"/>
  <p:embeddedFontLst>
    <p:embeddedFont>
      <p:font typeface="Poppins"/>
      <p:regular r:id="rId17"/>
      <p:bold r:id="rId18"/>
      <p:italic r:id="rId19"/>
      <p:boldItalic r:id="rId20"/>
    </p:embeddedFont>
    <p:embeddedFont>
      <p:font typeface="Lat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D911C94-B09D-486F-8080-45BFFA7FFDBC}">
  <a:tblStyle styleId="{BD911C94-B09D-486F-8080-45BFFA7FFDB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boldItalic.fntdata"/><Relationship Id="rId11" Type="http://schemas.openxmlformats.org/officeDocument/2006/relationships/slide" Target="slides/slide5.xml"/><Relationship Id="rId22" Type="http://schemas.openxmlformats.org/officeDocument/2006/relationships/font" Target="fonts/Lato-bold.fntdata"/><Relationship Id="rId10" Type="http://schemas.openxmlformats.org/officeDocument/2006/relationships/slide" Target="slides/slide4.xml"/><Relationship Id="rId21" Type="http://schemas.openxmlformats.org/officeDocument/2006/relationships/font" Target="fonts/Lato-regular.fntdata"/><Relationship Id="rId13" Type="http://schemas.openxmlformats.org/officeDocument/2006/relationships/slide" Target="slides/slide7.xml"/><Relationship Id="rId24" Type="http://schemas.openxmlformats.org/officeDocument/2006/relationships/font" Target="fonts/Lato-boldItalic.fntdata"/><Relationship Id="rId12" Type="http://schemas.openxmlformats.org/officeDocument/2006/relationships/slide" Target="slides/slide6.xml"/><Relationship Id="rId23" Type="http://schemas.openxmlformats.org/officeDocument/2006/relationships/font" Target="fonts/Lato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Poppins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Poppins-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Poppins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3.png"/><Relationship Id="rId8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Relationship Id="rId6" Type="http://schemas.openxmlformats.org/officeDocument/2006/relationships/image" Target="../media/image20.png"/><Relationship Id="rId7" Type="http://schemas.openxmlformats.org/officeDocument/2006/relationships/image" Target="../media/image22.png"/><Relationship Id="rId8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Relationship Id="rId6" Type="http://schemas.openxmlformats.org/officeDocument/2006/relationships/image" Target="../media/image20.png"/><Relationship Id="rId7" Type="http://schemas.openxmlformats.org/officeDocument/2006/relationships/image" Target="../media/image2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990600" y="2100262"/>
            <a:ext cx="109614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Detecting Credit Card Fraud</a:t>
            </a:r>
            <a:endParaRPr sz="1600"/>
          </a:p>
        </p:txBody>
      </p:sp>
      <p:sp>
        <p:nvSpPr>
          <p:cNvPr id="86" name="Google Shape;86;p13"/>
          <p:cNvSpPr txBox="1"/>
          <p:nvPr/>
        </p:nvSpPr>
        <p:spPr>
          <a:xfrm>
            <a:off x="990600" y="3233737"/>
            <a:ext cx="10439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 Comparative Analysis of Machine Learning Models</a:t>
            </a:r>
            <a:endParaRPr sz="1600"/>
          </a:p>
        </p:txBody>
      </p:sp>
      <p:sp>
        <p:nvSpPr>
          <p:cNvPr id="87" name="Google Shape;87;p13"/>
          <p:cNvSpPr txBox="1"/>
          <p:nvPr/>
        </p:nvSpPr>
        <p:spPr>
          <a:xfrm>
            <a:off x="990600" y="3957637"/>
            <a:ext cx="10439400" cy="13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By</a:t>
            </a:r>
            <a:endParaRPr sz="17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Aishani Mittal (S24CSEU1545)</a:t>
            </a:r>
            <a:endParaRPr sz="17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Harsh Renose (S24CSEU2872)</a:t>
            </a:r>
            <a:endParaRPr sz="17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Harsh</a:t>
            </a:r>
            <a:r>
              <a:rPr lang="en-US" sz="17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 Kumar (S24CSEU1575)</a:t>
            </a:r>
            <a:endParaRPr sz="17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524000"/>
            <a:ext cx="10668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1057275" y="1819275"/>
            <a:ext cx="4730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"A Needle in a Haystack"</a:t>
            </a:r>
            <a:endParaRPr sz="1800"/>
          </a:p>
        </p:txBody>
      </p:sp>
      <p:sp>
        <p:nvSpPr>
          <p:cNvPr id="96" name="Google Shape;96;p14"/>
          <p:cNvSpPr txBox="1"/>
          <p:nvPr/>
        </p:nvSpPr>
        <p:spPr>
          <a:xfrm>
            <a:off x="1057275" y="2409825"/>
            <a:ext cx="45054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Accuracy is useless. Predicting "no fraud" gives 99.6% accuracy but catches nothing.</a:t>
            </a:r>
            <a:endParaRPr sz="1600"/>
          </a:p>
        </p:txBody>
      </p:sp>
      <p:sp>
        <p:nvSpPr>
          <p:cNvPr id="97" name="Google Shape;97;p14"/>
          <p:cNvSpPr txBox="1"/>
          <p:nvPr/>
        </p:nvSpPr>
        <p:spPr>
          <a:xfrm>
            <a:off x="1057275" y="3267075"/>
            <a:ext cx="4505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EEAD4"/>
                </a:solidFill>
                <a:latin typeface="Lato"/>
                <a:ea typeface="Lato"/>
                <a:cs typeface="Lato"/>
                <a:sym typeface="Lato"/>
              </a:rPr>
              <a:t>Goal: Maximize </a:t>
            </a:r>
            <a:r>
              <a:rPr b="1" lang="en-US" sz="1700">
                <a:solidFill>
                  <a:srgbClr val="5EEAD4"/>
                </a:solidFill>
                <a:latin typeface="Lato"/>
                <a:ea typeface="Lato"/>
                <a:cs typeface="Lato"/>
                <a:sym typeface="Lato"/>
              </a:rPr>
              <a:t>F1-score, not accuracy.</a:t>
            </a:r>
            <a:endParaRPr sz="1600"/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571500"/>
            <a:ext cx="112014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Problem: Extreme Imbalance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3" name="Google Shape;10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/>
          <p:nvPr/>
        </p:nvSpPr>
        <p:spPr>
          <a:xfrm>
            <a:off x="3457563" y="1666875"/>
            <a:ext cx="38100" cy="4819800"/>
          </a:xfrm>
          <a:prstGeom prst="roundRect">
            <a:avLst>
              <a:gd fmla="val 50000" name="adj"/>
            </a:avLst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5" name="Google Shape;10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90875" y="14954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3810000" y="1495425"/>
            <a:ext cx="560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2D3EE"/>
                </a:solidFill>
                <a:latin typeface="Poppins"/>
                <a:ea typeface="Poppins"/>
                <a:cs typeface="Poppins"/>
                <a:sym typeface="Poppins"/>
              </a:rPr>
              <a:t>Raw Data &amp; Ingestion</a:t>
            </a:r>
            <a:endParaRPr sz="1600"/>
          </a:p>
        </p:txBody>
      </p:sp>
      <p:sp>
        <p:nvSpPr>
          <p:cNvPr id="107" name="Google Shape;107;p15"/>
          <p:cNvSpPr txBox="1"/>
          <p:nvPr/>
        </p:nvSpPr>
        <p:spPr>
          <a:xfrm>
            <a:off x="3810000" y="1876425"/>
            <a:ext cx="5334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US" sz="155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1.8M transactions with timestamps, amounts, merchant categories, and user demographics</a:t>
            </a:r>
            <a:endParaRPr sz="155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108" name="Google Shape;10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90875" y="277177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3810000" y="2771775"/>
            <a:ext cx="560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2D3EE"/>
                </a:solidFill>
                <a:latin typeface="Poppins"/>
                <a:ea typeface="Poppins"/>
                <a:cs typeface="Poppins"/>
                <a:sym typeface="Poppins"/>
              </a:rPr>
              <a:t>Feature Engineering</a:t>
            </a:r>
            <a:endParaRPr sz="1600"/>
          </a:p>
        </p:txBody>
      </p:sp>
      <p:sp>
        <p:nvSpPr>
          <p:cNvPr id="110" name="Google Shape;110;p15"/>
          <p:cNvSpPr txBox="1"/>
          <p:nvPr/>
        </p:nvSpPr>
        <p:spPr>
          <a:xfrm>
            <a:off x="3810000" y="3152775"/>
            <a:ext cx="5334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US" sz="155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Create age from DOB, extract hour/weekday from timestamp, calculate distance from home</a:t>
            </a:r>
            <a:endParaRPr sz="155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111" name="Google Shape;11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90875" y="40481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3810000" y="4048125"/>
            <a:ext cx="560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2D3EE"/>
                </a:solidFill>
                <a:latin typeface="Poppins"/>
                <a:ea typeface="Poppins"/>
                <a:cs typeface="Poppins"/>
                <a:sym typeface="Poppins"/>
              </a:rPr>
              <a:t>Dual Processing Pipelines</a:t>
            </a:r>
            <a:endParaRPr sz="1600"/>
          </a:p>
        </p:txBody>
      </p:sp>
      <p:sp>
        <p:nvSpPr>
          <p:cNvPr id="113" name="Google Shape;113;p15"/>
          <p:cNvSpPr txBox="1"/>
          <p:nvPr/>
        </p:nvSpPr>
        <p:spPr>
          <a:xfrm>
            <a:off x="3810000" y="4429125"/>
            <a:ext cx="5334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US" sz="155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Linear: StandardScaler + OneHotEncoder | Tree: OrdinalEncoder (no scaling)</a:t>
            </a:r>
            <a:endParaRPr sz="155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114" name="Google Shape;1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90875" y="532447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3810000" y="5324475"/>
            <a:ext cx="560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2D3EE"/>
                </a:solidFill>
                <a:latin typeface="Poppins"/>
                <a:ea typeface="Poppins"/>
                <a:cs typeface="Poppins"/>
                <a:sym typeface="Poppins"/>
              </a:rPr>
              <a:t>Resampling Strategies</a:t>
            </a:r>
            <a:endParaRPr sz="1600"/>
          </a:p>
        </p:txBody>
      </p:sp>
      <p:sp>
        <p:nvSpPr>
          <p:cNvPr id="116" name="Google Shape;116;p15"/>
          <p:cNvSpPr txBox="1"/>
          <p:nvPr/>
        </p:nvSpPr>
        <p:spPr>
          <a:xfrm>
            <a:off x="3810000" y="5705475"/>
            <a:ext cx="5334000" cy="9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5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Upsampling (df_up): duplicate fraud samples | Downsampling (df_down): reduce legit samples</a:t>
            </a:r>
            <a:endParaRPr sz="155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5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117" name="Google Shape;11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76612" y="166687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33750" y="2943225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376612" y="421957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333750" y="5495925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762000" y="542925"/>
            <a:ext cx="11201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Data &amp; Preprocessing Pipeline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6" name="Google Shape;12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524000"/>
            <a:ext cx="10668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6629400" y="1819275"/>
            <a:ext cx="473059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Why They Failed: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800850" y="2371725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915150" y="2371725"/>
            <a:ext cx="42195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KNN:</a:t>
            </a: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 Victim of the </a:t>
            </a:r>
            <a:r>
              <a:rPr b="0" i="1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Curse of Dimensionality</a:t>
            </a:r>
            <a:r>
              <a:rPr lang="en-US" sz="1700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—25</a:t>
            </a: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 features make distance meaningless.</a:t>
            </a:r>
            <a:endParaRPr sz="1600"/>
          </a:p>
        </p:txBody>
      </p:sp>
      <p:sp>
        <p:nvSpPr>
          <p:cNvPr id="132" name="Google Shape;132;p16"/>
          <p:cNvSpPr txBox="1"/>
          <p:nvPr/>
        </p:nvSpPr>
        <p:spPr>
          <a:xfrm>
            <a:off x="6824150" y="3590625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6915150" y="3561825"/>
            <a:ext cx="42195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Naive Bayes:</a:t>
            </a: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 Assumes all features are independent (they aren't).</a:t>
            </a:r>
            <a:endParaRPr sz="1600"/>
          </a:p>
        </p:txBody>
      </p:sp>
      <p:sp>
        <p:nvSpPr>
          <p:cNvPr id="134" name="Google Shape;134;p16"/>
          <p:cNvSpPr txBox="1"/>
          <p:nvPr/>
        </p:nvSpPr>
        <p:spPr>
          <a:xfrm>
            <a:off x="762000" y="571500"/>
            <a:ext cx="1120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"Trash Tier"  (</a:t>
            </a: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F1</a:t>
            </a: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&lt;  0.05  )  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9" name="Google Shape;13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524000"/>
            <a:ext cx="10668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 txBox="1"/>
          <p:nvPr/>
        </p:nvSpPr>
        <p:spPr>
          <a:xfrm>
            <a:off x="6629400" y="1819275"/>
            <a:ext cx="4730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Interpretation:</a:t>
            </a:r>
            <a:endParaRPr sz="1600"/>
          </a:p>
        </p:txBody>
      </p:sp>
      <p:sp>
        <p:nvSpPr>
          <p:cNvPr id="143" name="Google Shape;143;p17"/>
          <p:cNvSpPr txBox="1"/>
          <p:nvPr/>
        </p:nvSpPr>
        <p:spPr>
          <a:xfrm>
            <a:off x="6629400" y="2409825"/>
            <a:ext cx="4505325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These models provide a clean, interpretable baseline. They are limited by linear separability—fraud patterns are highly non-linear.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762000" y="571500"/>
            <a:ext cx="1120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Linear Baseline  (</a:t>
            </a: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F1</a:t>
            </a: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≈  0.37  )  </a:t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9" name="Google Shape;14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685925"/>
            <a:ext cx="509587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8"/>
          <p:cNvSpPr txBox="1"/>
          <p:nvPr/>
        </p:nvSpPr>
        <p:spPr>
          <a:xfrm>
            <a:off x="1057275" y="1819275"/>
            <a:ext cx="4730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F1 Score Comparison</a:t>
            </a:r>
            <a:endParaRPr sz="1600"/>
          </a:p>
        </p:txBody>
      </p:sp>
      <p:sp>
        <p:nvSpPr>
          <p:cNvPr id="153" name="Google Shape;153;p18"/>
          <p:cNvSpPr txBox="1"/>
          <p:nvPr/>
        </p:nvSpPr>
        <p:spPr>
          <a:xfrm>
            <a:off x="1057225" y="3964425"/>
            <a:ext cx="4730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Insight</a:t>
            </a:r>
            <a:endParaRPr sz="1600"/>
          </a:p>
        </p:txBody>
      </p:sp>
      <p:sp>
        <p:nvSpPr>
          <p:cNvPr id="154" name="Google Shape;154;p18"/>
          <p:cNvSpPr txBox="1"/>
          <p:nvPr/>
        </p:nvSpPr>
        <p:spPr>
          <a:xfrm>
            <a:off x="1057238" y="4369900"/>
            <a:ext cx="45054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Unrestricted trees memorize the training set. Pruning limits depth, forcing the model to generalize.</a:t>
            </a:r>
            <a:endParaRPr sz="1600"/>
          </a:p>
        </p:txBody>
      </p:sp>
      <p:sp>
        <p:nvSpPr>
          <p:cNvPr id="155" name="Google Shape;155;p18"/>
          <p:cNvSpPr txBox="1"/>
          <p:nvPr/>
        </p:nvSpPr>
        <p:spPr>
          <a:xfrm>
            <a:off x="1057225" y="5594475"/>
            <a:ext cx="4505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Lesson: Simplicity beats memorization.</a:t>
            </a:r>
            <a:endParaRPr sz="1600"/>
          </a:p>
        </p:txBody>
      </p:sp>
      <p:pic>
        <p:nvPicPr>
          <p:cNvPr descr="image.png" id="156" name="Google Shape;156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1228725" y="2371725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1343025" y="2371725"/>
            <a:ext cx="42195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Full Depth Tree: </a:t>
            </a:r>
            <a:r>
              <a:rPr lang="en-US" sz="1700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 0.46—memorizes training set with unrestricted growth</a:t>
            </a:r>
            <a:endParaRPr sz="1700">
              <a:solidFill>
                <a:srgbClr val="F1F5F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1228725" y="3085913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60" name="Google Shape;160;p18"/>
          <p:cNvSpPr txBox="1"/>
          <p:nvPr/>
        </p:nvSpPr>
        <p:spPr>
          <a:xfrm>
            <a:off x="1312813" y="3055738"/>
            <a:ext cx="4219500" cy="5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b="1" lang="en-US" sz="1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Pruned Tree: </a:t>
            </a:r>
            <a:r>
              <a:rPr lang="en-US" sz="17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0.56 - Depth=10 forces generalization, 10-point improvement</a:t>
            </a:r>
            <a:endParaRPr b="1" sz="1700">
              <a:solidFill>
                <a:srgbClr val="5EEAD4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1" name="Google Shape;161;p18"/>
          <p:cNvSpPr txBox="1"/>
          <p:nvPr/>
        </p:nvSpPr>
        <p:spPr>
          <a:xfrm>
            <a:off x="762000" y="5715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"Aha!" Moment</a:t>
            </a:r>
            <a:r>
              <a:rPr b="1"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—Overfitting</a:t>
            </a:r>
            <a:endParaRPr/>
          </a:p>
        </p:txBody>
      </p:sp>
      <p:pic>
        <p:nvPicPr>
          <p:cNvPr id="162" name="Google Shape;162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21325" y="1524000"/>
            <a:ext cx="5321501" cy="476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7" name="Google Shape;16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9"/>
          <p:cNvSpPr txBox="1"/>
          <p:nvPr/>
        </p:nvSpPr>
        <p:spPr>
          <a:xfrm>
            <a:off x="1057275" y="1819275"/>
            <a:ext cx="4730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Key Insight:</a:t>
            </a:r>
            <a:endParaRPr sz="1600"/>
          </a:p>
        </p:txBody>
      </p:sp>
      <p:sp>
        <p:nvSpPr>
          <p:cNvPr id="171" name="Google Shape;171;p19"/>
          <p:cNvSpPr txBox="1"/>
          <p:nvPr/>
        </p:nvSpPr>
        <p:spPr>
          <a:xfrm>
            <a:off x="1057225" y="2487575"/>
            <a:ext cx="4505400" cy="13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700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Ensembles combine many weak trees to form powerful learners, reducing variance and fixing overfitting</a:t>
            </a:r>
            <a:endParaRPr sz="1700">
              <a:solidFill>
                <a:srgbClr val="F1F5F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F1F5F9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172" name="Google Shape;17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9"/>
          <p:cNvSpPr txBox="1"/>
          <p:nvPr/>
        </p:nvSpPr>
        <p:spPr>
          <a:xfrm>
            <a:off x="762000" y="571500"/>
            <a:ext cx="1120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Ensemble Fix - RF &amp; XGBoost</a:t>
            </a:r>
            <a:endParaRPr sz="1600"/>
          </a:p>
        </p:txBody>
      </p:sp>
      <p:pic>
        <p:nvPicPr>
          <p:cNvPr id="174" name="Google Shape;174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10300" y="1438475"/>
            <a:ext cx="5543550" cy="484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9"/>
          <p:cNvPicPr preferRelativeResize="0"/>
          <p:nvPr/>
        </p:nvPicPr>
        <p:blipFill rotWithShape="1">
          <a:blip r:embed="rId8">
            <a:alphaModFix/>
          </a:blip>
          <a:srcRect b="27995" l="0" r="0" t="0"/>
          <a:stretch/>
        </p:blipFill>
        <p:spPr>
          <a:xfrm>
            <a:off x="2188425" y="3587346"/>
            <a:ext cx="2009775" cy="98077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2268450" y="4412600"/>
            <a:ext cx="26193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XGBoost </a:t>
            </a:r>
            <a:r>
              <a:rPr lang="en-US" sz="2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sz="2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 Score</a:t>
            </a:r>
            <a:endParaRPr sz="2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1" name="Google Shape;18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0"/>
          <p:cNvSpPr txBox="1"/>
          <p:nvPr/>
        </p:nvSpPr>
        <p:spPr>
          <a:xfrm>
            <a:off x="1057275" y="1819275"/>
            <a:ext cx="4730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The "Boy Who Cried Wolf" Graph:</a:t>
            </a:r>
            <a:endParaRPr sz="1500"/>
          </a:p>
        </p:txBody>
      </p:sp>
      <p:sp>
        <p:nvSpPr>
          <p:cNvPr id="185" name="Google Shape;185;p20"/>
          <p:cNvSpPr txBox="1"/>
          <p:nvPr/>
        </p:nvSpPr>
        <p:spPr>
          <a:xfrm>
            <a:off x="1057275" y="2409825"/>
            <a:ext cx="4505400" cy="213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700">
                <a:solidFill>
                  <a:schemeClr val="lt1"/>
                </a:solidFill>
              </a:rPr>
              <a:t>The curve peaks at ratio=0.1 ﻿﻿﻿﻿﻿﻿﻿﻿﻿and then collapses. All-in upsampling overfits to fake data</a:t>
            </a: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b="1" lang="en-US" sz="1700">
                <a:solidFill>
                  <a:schemeClr val="lt1"/>
                </a:solidFill>
              </a:rPr>
              <a:t>Best balance: ratio=0.1</a:t>
            </a:r>
            <a:endParaRPr b="1"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b="1" lang="en-US" sz="1700">
                <a:solidFill>
                  <a:schemeClr val="lt1"/>
                </a:solidFill>
              </a:rPr>
              <a:t>Controlled balance beats brute force</a:t>
            </a:r>
            <a:endParaRPr b="1" sz="17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image.png" id="186" name="Google Shape;186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0"/>
          <p:cNvSpPr txBox="1"/>
          <p:nvPr/>
        </p:nvSpPr>
        <p:spPr>
          <a:xfrm>
            <a:off x="762000" y="571500"/>
            <a:ext cx="1120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Winning Strategy - Ratio</a:t>
            </a:r>
            <a:endParaRPr sz="1600"/>
          </a:p>
        </p:txBody>
      </p:sp>
      <p:pic>
        <p:nvPicPr>
          <p:cNvPr id="188" name="Google Shape;188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96000" y="1524000"/>
            <a:ext cx="5572125" cy="476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524000"/>
            <a:ext cx="5095875" cy="47625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6" name="Google Shape;196;p21"/>
          <p:cNvGraphicFramePr/>
          <p:nvPr/>
        </p:nvGraphicFramePr>
        <p:xfrm>
          <a:off x="1057275" y="18192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{BD911C94-B09D-486F-8080-45BFFA7FFDBC}</a:tableStyleId>
              </a:tblPr>
              <a:tblGrid>
                <a:gridCol w="1143000"/>
                <a:gridCol w="2356550"/>
                <a:gridCol w="1005775"/>
              </a:tblGrid>
              <a:tr h="67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CBD5E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CBD5E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Dataset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CBD5E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F1 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67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F1F5F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XGBoost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F1F5F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df_down (Downsampling)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F1F5F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0.63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A86E8"/>
                    </a:solidFill>
                  </a:tcPr>
                </a:tc>
              </a:tr>
              <a:tr h="67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5EEAD4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XGBoost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5EEAD4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df_up (Upsampling)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A86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5EEAD4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0.85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4A86E8"/>
                    </a:solidFill>
                  </a:tcPr>
                </a:tc>
              </a:tr>
            </a:tbl>
          </a:graphicData>
        </a:graphic>
      </p:graphicFrame>
      <p:sp>
        <p:nvSpPr>
          <p:cNvPr id="197" name="Google Shape;197;p21"/>
          <p:cNvSpPr txBox="1"/>
          <p:nvPr/>
        </p:nvSpPr>
        <p:spPr>
          <a:xfrm>
            <a:off x="6629400" y="1819275"/>
            <a:ext cx="4730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Insight:</a:t>
            </a:r>
            <a:endParaRPr sz="1600"/>
          </a:p>
        </p:txBody>
      </p:sp>
      <p:sp>
        <p:nvSpPr>
          <p:cNvPr id="198" name="Google Shape;198;p21"/>
          <p:cNvSpPr txBox="1"/>
          <p:nvPr/>
        </p:nvSpPr>
        <p:spPr>
          <a:xfrm>
            <a:off x="6629400" y="3965100"/>
            <a:ext cx="45054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Takeaway: Complex models thrive on more (balanced) data.</a:t>
            </a:r>
            <a:endParaRPr sz="1600"/>
          </a:p>
        </p:txBody>
      </p:sp>
      <p:sp>
        <p:nvSpPr>
          <p:cNvPr id="199" name="Google Shape;199;p21"/>
          <p:cNvSpPr/>
          <p:nvPr/>
        </p:nvSpPr>
        <p:spPr>
          <a:xfrm>
            <a:off x="1057275" y="2538412"/>
            <a:ext cx="1143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1"/>
          <p:cNvSpPr/>
          <p:nvPr/>
        </p:nvSpPr>
        <p:spPr>
          <a:xfrm>
            <a:off x="2200275" y="2538412"/>
            <a:ext cx="235654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4556819" y="2538412"/>
            <a:ext cx="100578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 txBox="1"/>
          <p:nvPr/>
        </p:nvSpPr>
        <p:spPr>
          <a:xfrm>
            <a:off x="6800850" y="2371725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915150" y="2371725"/>
            <a:ext cx="42195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Downsampling throws away valuable legitimate data, confusing the model.</a:t>
            </a:r>
            <a:endParaRPr sz="1600"/>
          </a:p>
        </p:txBody>
      </p:sp>
      <p:sp>
        <p:nvSpPr>
          <p:cNvPr id="204" name="Google Shape;204;p21"/>
          <p:cNvSpPr txBox="1"/>
          <p:nvPr/>
        </p:nvSpPr>
        <p:spPr>
          <a:xfrm>
            <a:off x="6800850" y="3038475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6915150" y="3038475"/>
            <a:ext cx="42195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Upsampling gives the model more fraud examples to learn from.</a:t>
            </a:r>
            <a:endParaRPr sz="1600"/>
          </a:p>
        </p:txBody>
      </p:sp>
      <p:sp>
        <p:nvSpPr>
          <p:cNvPr id="206" name="Google Shape;206;p21"/>
          <p:cNvSpPr/>
          <p:nvPr/>
        </p:nvSpPr>
        <p:spPr>
          <a:xfrm>
            <a:off x="1057275" y="3309937"/>
            <a:ext cx="1143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2200275" y="3309937"/>
            <a:ext cx="235654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4556819" y="3309937"/>
            <a:ext cx="100578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 txBox="1"/>
          <p:nvPr/>
        </p:nvSpPr>
        <p:spPr>
          <a:xfrm>
            <a:off x="762000" y="571500"/>
            <a:ext cx="1120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Winning Strategy</a:t>
            </a: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—Sampling</a:t>
            </a:r>
            <a:endParaRPr sz="1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4" name="Google Shape;21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2"/>
          <p:cNvSpPr txBox="1"/>
          <p:nvPr/>
        </p:nvSpPr>
        <p:spPr>
          <a:xfrm>
            <a:off x="762000" y="1481137"/>
            <a:ext cx="535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Final Champion</a:t>
            </a:r>
            <a:endParaRPr sz="1600"/>
          </a:p>
        </p:txBody>
      </p:sp>
      <p:sp>
        <p:nvSpPr>
          <p:cNvPr id="216" name="Google Shape;216;p22"/>
          <p:cNvSpPr txBox="1"/>
          <p:nvPr/>
        </p:nvSpPr>
        <p:spPr>
          <a:xfrm>
            <a:off x="762000" y="3614737"/>
            <a:ext cx="535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Final Thoughts</a:t>
            </a:r>
            <a:endParaRPr sz="1600"/>
          </a:p>
        </p:txBody>
      </p:sp>
      <p:sp>
        <p:nvSpPr>
          <p:cNvPr id="217" name="Google Shape;217;p22"/>
          <p:cNvSpPr txBox="1"/>
          <p:nvPr/>
        </p:nvSpPr>
        <p:spPr>
          <a:xfrm>
            <a:off x="933450" y="2033587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8" name="Google Shape;218;p22"/>
          <p:cNvSpPr txBox="1"/>
          <p:nvPr/>
        </p:nvSpPr>
        <p:spPr>
          <a:xfrm>
            <a:off x="1047750" y="2033587"/>
            <a:ext cx="481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Model: XGBoost</a:t>
            </a:r>
            <a:endParaRPr sz="1600"/>
          </a:p>
        </p:txBody>
      </p:sp>
      <p:sp>
        <p:nvSpPr>
          <p:cNvPr id="219" name="Google Shape;219;p22"/>
          <p:cNvSpPr txBox="1"/>
          <p:nvPr/>
        </p:nvSpPr>
        <p:spPr>
          <a:xfrm>
            <a:off x="933450" y="2414587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0" name="Google Shape;220;p22"/>
          <p:cNvSpPr txBox="1"/>
          <p:nvPr/>
        </p:nvSpPr>
        <p:spPr>
          <a:xfrm>
            <a:off x="1047750" y="2414587"/>
            <a:ext cx="481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Sampling: 'df_up' (Upsampling)</a:t>
            </a:r>
            <a:endParaRPr sz="1600"/>
          </a:p>
        </p:txBody>
      </p:sp>
      <p:sp>
        <p:nvSpPr>
          <p:cNvPr id="221" name="Google Shape;221;p22"/>
          <p:cNvSpPr txBox="1"/>
          <p:nvPr/>
        </p:nvSpPr>
        <p:spPr>
          <a:xfrm>
            <a:off x="933450" y="2795587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2" name="Google Shape;222;p22"/>
          <p:cNvSpPr txBox="1"/>
          <p:nvPr/>
        </p:nvSpPr>
        <p:spPr>
          <a:xfrm>
            <a:off x="1047750" y="2795587"/>
            <a:ext cx="481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Ratio: 0.1</a:t>
            </a:r>
            <a:endParaRPr sz="1600"/>
          </a:p>
        </p:txBody>
      </p:sp>
      <p:sp>
        <p:nvSpPr>
          <p:cNvPr id="223" name="Google Shape;223;p22"/>
          <p:cNvSpPr txBox="1"/>
          <p:nvPr/>
        </p:nvSpPr>
        <p:spPr>
          <a:xfrm>
            <a:off x="933450" y="3176587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24" name="Google Shape;224;p22"/>
          <p:cNvSpPr txBox="1"/>
          <p:nvPr/>
        </p:nvSpPr>
        <p:spPr>
          <a:xfrm>
            <a:off x="1047750" y="3176587"/>
            <a:ext cx="481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Final F1 Score: 0.851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933450" y="4167187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1047750" y="4167187"/>
            <a:ext cx="48102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Resampling &amp; feature engineering matter as much as model choice.</a:t>
            </a:r>
            <a:endParaRPr sz="1600"/>
          </a:p>
        </p:txBody>
      </p:sp>
      <p:sp>
        <p:nvSpPr>
          <p:cNvPr id="227" name="Google Shape;227;p22"/>
          <p:cNvSpPr txBox="1"/>
          <p:nvPr/>
        </p:nvSpPr>
        <p:spPr>
          <a:xfrm>
            <a:off x="933450" y="4833937"/>
            <a:ext cx="1143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1047750" y="4833937"/>
            <a:ext cx="4810200" cy="6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Boosted ensembles dominate when tuned properly.</a:t>
            </a:r>
            <a:endParaRPr sz="1600"/>
          </a:p>
        </p:txBody>
      </p:sp>
      <p:sp>
        <p:nvSpPr>
          <p:cNvPr id="229" name="Google Shape;229;p22"/>
          <p:cNvSpPr txBox="1"/>
          <p:nvPr/>
        </p:nvSpPr>
        <p:spPr>
          <a:xfrm>
            <a:off x="933450" y="5608837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1047738" y="5593537"/>
            <a:ext cx="481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rPr>
              <a:t>Fraud detection is about balance, not brute force.</a:t>
            </a:r>
            <a:endParaRPr sz="1600"/>
          </a:p>
        </p:txBody>
      </p:sp>
      <p:sp>
        <p:nvSpPr>
          <p:cNvPr id="231" name="Google Shape;231;p22"/>
          <p:cNvSpPr txBox="1"/>
          <p:nvPr/>
        </p:nvSpPr>
        <p:spPr>
          <a:xfrm>
            <a:off x="762000" y="528637"/>
            <a:ext cx="11201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Conclusion &amp; Demo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