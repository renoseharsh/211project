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81B94-D45A-C314-8802-53BEBE888BE3}" v="48" dt="2025-11-17T19:54:38.392"/>
  </p1510:revLst>
</p1510:revInfo>
</file>

<file path=ppt/tableStyles.xml><?xml version="1.0" encoding="utf-8"?>
<a:tblStyleLst xmlns:a="http://schemas.openxmlformats.org/drawingml/2006/main" def="{BD911C94-B09D-486F-8080-45BFFA7FFDBC}">
  <a:tblStyle styleId="{BD911C94-B09D-486F-8080-45BFFA7FFD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90600" y="2100262"/>
            <a:ext cx="10961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Detecting Credit Card Fraud</a:t>
            </a:r>
            <a:endParaRPr sz="1600"/>
          </a:p>
        </p:txBody>
      </p:sp>
      <p:sp>
        <p:nvSpPr>
          <p:cNvPr id="86" name="Google Shape;86;p13"/>
          <p:cNvSpPr txBox="1"/>
          <p:nvPr/>
        </p:nvSpPr>
        <p:spPr>
          <a:xfrm>
            <a:off x="990600" y="3233737"/>
            <a:ext cx="1043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Comparative Analysis of Machine Learning Models</a:t>
            </a:r>
            <a:endParaRPr sz="1600"/>
          </a:p>
        </p:txBody>
      </p:sp>
      <p:sp>
        <p:nvSpPr>
          <p:cNvPr id="87" name="Google Shape;87;p13"/>
          <p:cNvSpPr txBox="1"/>
          <p:nvPr/>
        </p:nvSpPr>
        <p:spPr>
          <a:xfrm>
            <a:off x="990600" y="3957637"/>
            <a:ext cx="104394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By</a:t>
            </a:r>
            <a:endParaRPr sz="17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Aishani Mittal (S24CSEU1545)</a:t>
            </a:r>
            <a:endParaRPr sz="17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Harsh Renose (S24CSEU2872)</a:t>
            </a:r>
            <a:endParaRPr sz="17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Harsh  Kumar (S24CSEU1575)</a:t>
            </a:r>
            <a:endParaRPr sz="17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524000"/>
            <a:ext cx="10668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57275" y="1819275"/>
            <a:ext cx="473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500" dirty="0">
                <a:solidFill>
                  <a:srgbClr val="93C5FD"/>
                </a:solidFill>
              </a:rPr>
              <a:t>The Class Imbalance Challenge</a:t>
            </a:r>
            <a:endParaRPr lang="en-US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2409825"/>
            <a:ext cx="4505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Accuracy is useless. Predicting "no fraud" gives 99.6% accuracy but catches nothing.</a:t>
            </a:r>
            <a:endParaRPr sz="1600"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3267075"/>
            <a:ext cx="4505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5EEAD4"/>
                </a:solidFill>
                <a:latin typeface="Lato"/>
                <a:ea typeface="Lato"/>
                <a:cs typeface="Lato"/>
                <a:sym typeface="Lato"/>
              </a:rPr>
              <a:t>Goal: Maximize </a:t>
            </a:r>
            <a:r>
              <a:rPr lang="en-US" sz="1700" b="1">
                <a:solidFill>
                  <a:srgbClr val="5EEAD4"/>
                </a:solidFill>
                <a:latin typeface="Lato"/>
                <a:ea typeface="Lato"/>
                <a:cs typeface="Lato"/>
                <a:sym typeface="Lato"/>
              </a:rPr>
              <a:t>F1-score, not accuracy.</a:t>
            </a:r>
            <a:endParaRPr sz="1600"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20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Problem: Extreme Imbalance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3457563" y="1666875"/>
            <a:ext cx="38100" cy="48198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0875" y="1495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3810000" y="1495425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Raw Data</a:t>
            </a:r>
            <a:endParaRPr sz="1600"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3810000" y="1876425"/>
            <a:ext cx="5334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5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1.8M transactions with timestamps, amounts, merchant categories, and user demographics</a:t>
            </a:r>
            <a:endParaRPr sz="155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0875" y="27717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3810000" y="2771775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Feature Engineering</a:t>
            </a:r>
            <a:endParaRPr sz="1600"/>
          </a:p>
        </p:txBody>
      </p:sp>
      <p:sp>
        <p:nvSpPr>
          <p:cNvPr id="110" name="Google Shape;110;p15"/>
          <p:cNvSpPr txBox="1"/>
          <p:nvPr/>
        </p:nvSpPr>
        <p:spPr>
          <a:xfrm>
            <a:off x="3810000" y="3152775"/>
            <a:ext cx="5334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5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Create age from DOB, extract hour/weekday from timestamp, calculate distance from home</a:t>
            </a:r>
            <a:endParaRPr sz="155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0875" y="40481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3810000" y="4048125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Dual Processing Pipelines</a:t>
            </a:r>
            <a:endParaRPr sz="1600"/>
          </a:p>
        </p:txBody>
      </p:sp>
      <p:sp>
        <p:nvSpPr>
          <p:cNvPr id="113" name="Google Shape;113;p15"/>
          <p:cNvSpPr txBox="1"/>
          <p:nvPr/>
        </p:nvSpPr>
        <p:spPr>
          <a:xfrm>
            <a:off x="3810000" y="4429125"/>
            <a:ext cx="5334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5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Linear: StandardScaler + OneHotEncoder | Tree: OrdinalEncoder (no scaling)</a:t>
            </a:r>
            <a:endParaRPr sz="155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0875" y="53244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3810000" y="5324475"/>
            <a:ext cx="56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Resampling Strategies</a:t>
            </a:r>
            <a:endParaRPr sz="1600"/>
          </a:p>
        </p:txBody>
      </p:sp>
      <p:sp>
        <p:nvSpPr>
          <p:cNvPr id="116" name="Google Shape;116;p15"/>
          <p:cNvSpPr txBox="1"/>
          <p:nvPr/>
        </p:nvSpPr>
        <p:spPr>
          <a:xfrm>
            <a:off x="3810000" y="5705475"/>
            <a:ext cx="5334000" cy="9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Upsampling (df_up): duplicate fraud samples | Downsampling (df_down): reduce legit samples</a:t>
            </a:r>
            <a:endParaRPr sz="155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5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6612" y="1666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3750" y="29432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76612" y="42195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33750" y="54959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42925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Data &amp; Preprocessing Pipeline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524000"/>
            <a:ext cx="10668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629400" y="18192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Why They Failed: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800850" y="2371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15150" y="2371725"/>
            <a:ext cx="4219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KNN:</a:t>
            </a: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Victim of the </a:t>
            </a:r>
            <a:r>
              <a:rPr lang="en-US" sz="1700" b="0" i="1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Curse of Dimensionality</a:t>
            </a:r>
            <a:r>
              <a:rPr lang="en-US" sz="17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—25</a:t>
            </a: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features make distance meaningless.</a:t>
            </a:r>
            <a:endParaRPr sz="1600"/>
          </a:p>
        </p:txBody>
      </p:sp>
      <p:sp>
        <p:nvSpPr>
          <p:cNvPr id="132" name="Google Shape;132;p16"/>
          <p:cNvSpPr txBox="1"/>
          <p:nvPr/>
        </p:nvSpPr>
        <p:spPr>
          <a:xfrm>
            <a:off x="6824150" y="3590625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15150" y="3561825"/>
            <a:ext cx="42195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Naive Bayes:</a:t>
            </a: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Assumes all features are independent (they aren't).</a:t>
            </a:r>
            <a:endParaRPr sz="1600"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571500"/>
            <a:ext cx="1120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ea typeface="Poppins"/>
                <a:sym typeface="Poppins"/>
              </a:rPr>
              <a:t>Baseline Failure: KNN &amp; Naive Bayes</a:t>
            </a:r>
            <a:r>
              <a:rPr lang="en-US" sz="3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 </a:t>
            </a:r>
            <a:r>
              <a:rPr lang="en-US" sz="3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3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F1</a:t>
            </a:r>
            <a:r>
              <a:rPr lang="en-US" sz="3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&lt;  0.05  )  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524000"/>
            <a:ext cx="10668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6629400" y="1819275"/>
            <a:ext cx="47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Interpretation:</a:t>
            </a:r>
            <a:endParaRPr sz="1600"/>
          </a:p>
        </p:txBody>
      </p:sp>
      <p:sp>
        <p:nvSpPr>
          <p:cNvPr id="143" name="Google Shape;143;p17"/>
          <p:cNvSpPr txBox="1"/>
          <p:nvPr/>
        </p:nvSpPr>
        <p:spPr>
          <a:xfrm>
            <a:off x="6629400" y="24098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These models provide a clean, interpretable baseline. They are limited by linear separability—fraud patterns are highly non-linear.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62000" y="571500"/>
            <a:ext cx="1120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Linear Baseline  (</a:t>
            </a:r>
            <a:r>
              <a:rPr lang="en-US" sz="3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F1</a:t>
            </a:r>
            <a:r>
              <a:rPr lang="en-US" sz="3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≈  0.37  )  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85925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1057275" y="1819275"/>
            <a:ext cx="47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F1 Score Comparison</a:t>
            </a:r>
            <a:endParaRPr sz="1600"/>
          </a:p>
        </p:txBody>
      </p:sp>
      <p:sp>
        <p:nvSpPr>
          <p:cNvPr id="153" name="Google Shape;153;p18"/>
          <p:cNvSpPr txBox="1"/>
          <p:nvPr/>
        </p:nvSpPr>
        <p:spPr>
          <a:xfrm>
            <a:off x="1057225" y="3964425"/>
            <a:ext cx="47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Insight</a:t>
            </a:r>
            <a:endParaRPr sz="1600"/>
          </a:p>
        </p:txBody>
      </p:sp>
      <p:sp>
        <p:nvSpPr>
          <p:cNvPr id="154" name="Google Shape;154;p18"/>
          <p:cNvSpPr txBox="1"/>
          <p:nvPr/>
        </p:nvSpPr>
        <p:spPr>
          <a:xfrm>
            <a:off x="1057238" y="4369900"/>
            <a:ext cx="4505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Unrestricted trees memorize the training set. Pruning limits depth, forcing the model to generalize.</a:t>
            </a:r>
            <a:endParaRPr sz="1600"/>
          </a:p>
        </p:txBody>
      </p:sp>
      <p:sp>
        <p:nvSpPr>
          <p:cNvPr id="155" name="Google Shape;155;p18"/>
          <p:cNvSpPr txBox="1"/>
          <p:nvPr/>
        </p:nvSpPr>
        <p:spPr>
          <a:xfrm>
            <a:off x="1057225" y="5594475"/>
            <a:ext cx="4505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Lesson: Simplicity beats memorization.</a:t>
            </a:r>
            <a:endParaRPr sz="1600"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1228725" y="2371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343025" y="2371725"/>
            <a:ext cx="4219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Full Depth Tree: </a:t>
            </a:r>
            <a:r>
              <a:rPr lang="en-US" sz="17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 0.46—memorizes training set with unrestricted growth</a:t>
            </a:r>
            <a:endParaRPr sz="1700">
              <a:solidFill>
                <a:srgbClr val="F1F5F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1228725" y="3085913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312813" y="3055738"/>
            <a:ext cx="42195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Pruned Tree: </a:t>
            </a:r>
            <a:r>
              <a:rPr lang="en-US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0.56 - Depth=10 forces generalization, 10-point improvement</a:t>
            </a:r>
            <a:endParaRPr sz="1700" b="1">
              <a:solidFill>
                <a:srgbClr val="5EEAD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62000" y="571500"/>
            <a:ext cx="1120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dirty="0">
                <a:solidFill>
                  <a:srgbClr val="FFFFFF"/>
                </a:solidFill>
                <a:ea typeface="Poppins"/>
                <a:sym typeface="Poppins"/>
              </a:rPr>
              <a:t>Decision Trees: Overfitting vs. Generalization</a:t>
            </a:r>
            <a:endParaRPr lang="en-US" dirty="0"/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1325" y="1524000"/>
            <a:ext cx="5321501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057275" y="1819275"/>
            <a:ext cx="47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Key Insight:</a:t>
            </a:r>
            <a:endParaRPr sz="1600"/>
          </a:p>
        </p:txBody>
      </p:sp>
      <p:sp>
        <p:nvSpPr>
          <p:cNvPr id="171" name="Google Shape;171;p19"/>
          <p:cNvSpPr txBox="1"/>
          <p:nvPr/>
        </p:nvSpPr>
        <p:spPr>
          <a:xfrm>
            <a:off x="1057225" y="2487575"/>
            <a:ext cx="4505400" cy="13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Ensembles combine many weak trees to form powerful learners, reducing variance and fixing overfitting</a:t>
            </a:r>
            <a:endParaRPr sz="1700">
              <a:solidFill>
                <a:srgbClr val="F1F5F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F1F5F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571500"/>
            <a:ext cx="1120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Advanced Architectures: Random Forest &amp; </a:t>
            </a:r>
            <a:r>
              <a:rPr lang="en-US" sz="3200" dirty="0" err="1">
                <a:solidFill>
                  <a:srgbClr val="FFFFFF"/>
                </a:solidFill>
              </a:rPr>
              <a:t>XGBoost</a:t>
            </a:r>
            <a:endParaRPr lang="en-US" dirty="0" err="1"/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0300" y="1438475"/>
            <a:ext cx="5543550" cy="48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8">
            <a:alphaModFix/>
          </a:blip>
          <a:srcRect b="27995"/>
          <a:stretch/>
        </p:blipFill>
        <p:spPr>
          <a:xfrm>
            <a:off x="2188425" y="3587346"/>
            <a:ext cx="2009775" cy="98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2268450" y="4412600"/>
            <a:ext cx="2619300" cy="8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XGBoost F1 Score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057275" y="1819275"/>
            <a:ext cx="4730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00" dirty="0">
                <a:solidFill>
                  <a:srgbClr val="93C5FD"/>
                </a:solidFill>
                <a:sym typeface="Poppins"/>
              </a:rPr>
              <a:t>Optimizing the Resampling Ratio</a:t>
            </a:r>
            <a:endParaRPr lang="en-US"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1057275" y="2409825"/>
            <a:ext cx="4505400" cy="21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The curve peaks at ratio=0.1 ﻿﻿﻿﻿﻿﻿﻿﻿﻿and then collapses. All-in upsampling overfits to fake data</a:t>
            </a:r>
            <a:endParaRPr sz="1700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US" sz="1700" b="1">
                <a:solidFill>
                  <a:schemeClr val="lt1"/>
                </a:solidFill>
              </a:rPr>
              <a:t>Best balance: ratio=0.1</a:t>
            </a:r>
            <a:endParaRPr sz="1700" b="1">
              <a:solidFill>
                <a:schemeClr val="lt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US" sz="1700" b="1">
                <a:solidFill>
                  <a:schemeClr val="lt1"/>
                </a:solidFill>
              </a:rPr>
              <a:t>Controlled balance beats brute force</a:t>
            </a:r>
            <a:endParaRPr sz="17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571500"/>
            <a:ext cx="1120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Winning Strategy - Ratio</a:t>
            </a:r>
            <a:endParaRPr sz="1600"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0" y="1524000"/>
            <a:ext cx="5572125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24000"/>
            <a:ext cx="5095875" cy="4762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21"/>
          <p:cNvGraphicFramePr/>
          <p:nvPr/>
        </p:nvGraphicFramePr>
        <p:xfrm>
          <a:off x="1057275" y="1819275"/>
          <a:ext cx="4505325" cy="2038350"/>
        </p:xfrm>
        <a:graphic>
          <a:graphicData uri="http://schemas.openxmlformats.org/drawingml/2006/table">
            <a:tbl>
              <a:tblPr firstRow="1" bandRow="1">
                <a:noFill/>
                <a:tableStyleId>{BD911C94-B09D-486F-8080-45BFFA7FFDBC}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XGBoost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df_down (Downsampling)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5EEAD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XGBoost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5EEAD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df_up (Upsampling)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5EEAD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8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7" name="Google Shape;197;p21"/>
          <p:cNvSpPr txBox="1"/>
          <p:nvPr/>
        </p:nvSpPr>
        <p:spPr>
          <a:xfrm>
            <a:off x="6629400" y="1819275"/>
            <a:ext cx="473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Insight:</a:t>
            </a:r>
            <a:endParaRPr sz="1600"/>
          </a:p>
        </p:txBody>
      </p:sp>
      <p:sp>
        <p:nvSpPr>
          <p:cNvPr id="198" name="Google Shape;198;p21"/>
          <p:cNvSpPr txBox="1"/>
          <p:nvPr/>
        </p:nvSpPr>
        <p:spPr>
          <a:xfrm>
            <a:off x="6629400" y="3965100"/>
            <a:ext cx="4505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Takeaway: Complex models thrive on more (balanced) data.</a:t>
            </a:r>
            <a:endParaRPr sz="1600"/>
          </a:p>
        </p:txBody>
      </p:sp>
      <p:sp>
        <p:nvSpPr>
          <p:cNvPr id="199" name="Google Shape;199;p21"/>
          <p:cNvSpPr/>
          <p:nvPr/>
        </p:nvSpPr>
        <p:spPr>
          <a:xfrm>
            <a:off x="1057275" y="2538412"/>
            <a:ext cx="1143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2200275" y="2538412"/>
            <a:ext cx="2356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556819" y="2538412"/>
            <a:ext cx="10057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6800850" y="2371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915150" y="2371725"/>
            <a:ext cx="42195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Downsampling throws away valuable legitimate data, confusing the model.</a:t>
            </a:r>
            <a:endParaRPr sz="1600"/>
          </a:p>
        </p:txBody>
      </p:sp>
      <p:sp>
        <p:nvSpPr>
          <p:cNvPr id="204" name="Google Shape;204;p21"/>
          <p:cNvSpPr txBox="1"/>
          <p:nvPr/>
        </p:nvSpPr>
        <p:spPr>
          <a:xfrm>
            <a:off x="6800850" y="30384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915150" y="3038475"/>
            <a:ext cx="42195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Upsampling gives the model more fraud examples to learn from.</a:t>
            </a:r>
            <a:endParaRPr sz="1600"/>
          </a:p>
        </p:txBody>
      </p:sp>
      <p:sp>
        <p:nvSpPr>
          <p:cNvPr id="206" name="Google Shape;206;p21"/>
          <p:cNvSpPr/>
          <p:nvPr/>
        </p:nvSpPr>
        <p:spPr>
          <a:xfrm>
            <a:off x="1057275" y="3309937"/>
            <a:ext cx="1143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200275" y="3309937"/>
            <a:ext cx="23565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556819" y="3309937"/>
            <a:ext cx="10057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571500"/>
            <a:ext cx="1120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I</a:t>
            </a:r>
            <a:r>
              <a:rPr lang="en-US" sz="3200" dirty="0">
                <a:solidFill>
                  <a:srgbClr val="FFFFFF"/>
                </a:solidFill>
                <a:sym typeface="Poppins"/>
              </a:rPr>
              <a:t>mpact of Sampling Techniques on Model Performance</a:t>
            </a:r>
            <a:endParaRPr lang="en-US" sz="32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762000" y="1481137"/>
            <a:ext cx="5350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00" i="0" u="none" strike="noStrike" cap="none" dirty="0">
                <a:solidFill>
                  <a:srgbClr val="93C5FD"/>
                </a:solidFill>
                <a:ea typeface="Poppins"/>
                <a:sym typeface="Poppins"/>
              </a:rPr>
              <a:t>Final </a:t>
            </a:r>
            <a:r>
              <a:rPr lang="en-US" sz="2300" dirty="0">
                <a:solidFill>
                  <a:srgbClr val="93C5FD"/>
                </a:solidFill>
                <a:ea typeface="Poppins"/>
                <a:sym typeface="Poppins"/>
              </a:rPr>
              <a:t>Model Configuration &amp; Results</a:t>
            </a:r>
            <a:endParaRPr lang="en-US"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762000" y="3614737"/>
            <a:ext cx="5350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Final Thoughts</a:t>
            </a:r>
            <a:endParaRPr sz="1600"/>
          </a:p>
        </p:txBody>
      </p:sp>
      <p:sp>
        <p:nvSpPr>
          <p:cNvPr id="217" name="Google Shape;217;p22"/>
          <p:cNvSpPr txBox="1"/>
          <p:nvPr/>
        </p:nvSpPr>
        <p:spPr>
          <a:xfrm>
            <a:off x="933450" y="20335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047750" y="2033587"/>
            <a:ext cx="481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Model: XGBoost</a:t>
            </a:r>
            <a:endParaRPr sz="1600"/>
          </a:p>
        </p:txBody>
      </p:sp>
      <p:sp>
        <p:nvSpPr>
          <p:cNvPr id="219" name="Google Shape;219;p22"/>
          <p:cNvSpPr txBox="1"/>
          <p:nvPr/>
        </p:nvSpPr>
        <p:spPr>
          <a:xfrm>
            <a:off x="933450" y="24145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047750" y="2414587"/>
            <a:ext cx="481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Sampling: 'df_up' (Upsampling)</a:t>
            </a:r>
            <a:endParaRPr sz="1600"/>
          </a:p>
        </p:txBody>
      </p:sp>
      <p:sp>
        <p:nvSpPr>
          <p:cNvPr id="221" name="Google Shape;221;p22"/>
          <p:cNvSpPr txBox="1"/>
          <p:nvPr/>
        </p:nvSpPr>
        <p:spPr>
          <a:xfrm>
            <a:off x="933450" y="27955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047750" y="2795587"/>
            <a:ext cx="481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Ratio: 0.1</a:t>
            </a:r>
            <a:endParaRPr sz="1600"/>
          </a:p>
        </p:txBody>
      </p:sp>
      <p:sp>
        <p:nvSpPr>
          <p:cNvPr id="223" name="Google Shape;223;p22"/>
          <p:cNvSpPr txBox="1"/>
          <p:nvPr/>
        </p:nvSpPr>
        <p:spPr>
          <a:xfrm>
            <a:off x="933450" y="31765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1047750" y="3176587"/>
            <a:ext cx="481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Final F1 Score: 0.851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933450" y="41671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047750" y="4167187"/>
            <a:ext cx="48102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Resampling &amp; feature engineering matter as much as model choice.</a:t>
            </a:r>
            <a:endParaRPr sz="1600"/>
          </a:p>
        </p:txBody>
      </p:sp>
      <p:sp>
        <p:nvSpPr>
          <p:cNvPr id="227" name="Google Shape;227;p22"/>
          <p:cNvSpPr txBox="1"/>
          <p:nvPr/>
        </p:nvSpPr>
        <p:spPr>
          <a:xfrm>
            <a:off x="933450" y="48339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047750" y="4833937"/>
            <a:ext cx="48102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Boosted ensembles dominate when tuned properly.</a:t>
            </a:r>
            <a:endParaRPr sz="1600"/>
          </a:p>
        </p:txBody>
      </p:sp>
      <p:sp>
        <p:nvSpPr>
          <p:cNvPr id="229" name="Google Shape;229;p22"/>
          <p:cNvSpPr txBox="1"/>
          <p:nvPr/>
        </p:nvSpPr>
        <p:spPr>
          <a:xfrm>
            <a:off x="933450" y="560883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047738" y="5593537"/>
            <a:ext cx="481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Fraud detection is about balance, not brute force.</a:t>
            </a:r>
            <a:endParaRPr sz="1600"/>
          </a:p>
        </p:txBody>
      </p:sp>
      <p:sp>
        <p:nvSpPr>
          <p:cNvPr id="231" name="Google Shape;231;p22"/>
          <p:cNvSpPr txBox="1"/>
          <p:nvPr/>
        </p:nvSpPr>
        <p:spPr>
          <a:xfrm>
            <a:off x="762000" y="528637"/>
            <a:ext cx="1120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 &amp; Demo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19</cp:revision>
  <dcterms:modified xsi:type="dcterms:W3CDTF">2025-11-17T19:55:45Z</dcterms:modified>
</cp:coreProperties>
</file>